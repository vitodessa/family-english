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40880" y="-1280160"/>
            <a:ext cx="3291840" cy="3291840"/>
          </a:xfrm>
          <a:prstGeom prst="ellipse">
            <a:avLst/>
          </a:prstGeom>
          <a:solidFill>
            <a:srgbClr val="103E45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3383280"/>
            <a:ext cx="2377440" cy="2377440"/>
          </a:xfrm>
          <a:prstGeom prst="ellipse">
            <a:avLst/>
          </a:prstGeom>
          <a:solidFill>
            <a:srgbClr val="0F766E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640080"/>
            <a:ext cx="868680" cy="86868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5937" y="865937"/>
            <a:ext cx="416966" cy="41696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91640" y="7132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ПРОЕКТ · KICKOFF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" y="182880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Family English</a:t>
            </a:r>
            <a:endParaRPr lang="en-US" sz="5600" dirty="0"/>
          </a:p>
        </p:txBody>
      </p:sp>
      <p:sp>
        <p:nvSpPr>
          <p:cNvPr id="8" name="Text 5"/>
          <p:cNvSpPr/>
          <p:nvPr/>
        </p:nvSpPr>
        <p:spPr>
          <a:xfrm>
            <a:off x="658368" y="297180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Семейная платформа изучения английского — твой следующий проект.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58368" y="4297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бота-наставника  </a:t>
            </a:r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pPr indent="0" marL="0">
              <a:buNone/>
            </a:pPr>
            <a:r>
              <a:rPr lang="en-US" sz="1400" dirty="0">
                <a:solidFill>
                  <a:srgbClr val="5E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к системе для всей семьи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030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Что ты уже построил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66928" y="109728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Бот-наставник, которого ты собрал сам, с нуля. Это фундамент, на котором встаёт всё дальше.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468880" cy="2651760"/>
          </a:xfrm>
          <a:prstGeom prst="roundRect">
            <a:avLst>
              <a:gd name="adj" fmla="val 3704"/>
            </a:avLst>
          </a:prstGeom>
          <a:solidFill>
            <a:srgbClr val="F1F6F5"/>
          </a:solidFill>
          <a:ln/>
          <a:effectLst>
            <a:outerShdw sx="100000" sy="100000" kx="0" ky="0" algn="bl" rotWithShape="0" blurRad="114300" dist="38100" dir="8100000">
              <a:srgbClr val="0C2E33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2194560"/>
            <a:ext cx="841248" cy="841248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9972" y="2413284"/>
            <a:ext cx="403799" cy="40379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1546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30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24/7</a:t>
            </a:r>
            <a:endParaRPr lang="en-US" sz="2300" dirty="0"/>
          </a:p>
        </p:txBody>
      </p:sp>
      <p:sp>
        <p:nvSpPr>
          <p:cNvPr id="8" name="Text 5"/>
          <p:cNvSpPr/>
          <p:nvPr/>
        </p:nvSpPr>
        <p:spPr>
          <a:xfrm>
            <a:off x="777240" y="3675888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E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проде на собственном VPS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3291840" y="1874520"/>
            <a:ext cx="2468880" cy="2651760"/>
          </a:xfrm>
          <a:prstGeom prst="roundRect">
            <a:avLst>
              <a:gd name="adj" fmla="val 3704"/>
            </a:avLst>
          </a:prstGeom>
          <a:solidFill>
            <a:srgbClr val="F1F6F5"/>
          </a:solidFill>
          <a:ln/>
          <a:effectLst>
            <a:outerShdw sx="100000" sy="100000" kx="0" ky="0" algn="bl" rotWithShape="0" blurRad="114300" dist="38100" dir="8100000">
              <a:srgbClr val="0C2E33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84448" y="2194560"/>
            <a:ext cx="841248" cy="841248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3172" y="2413284"/>
            <a:ext cx="403799" cy="40379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20440" y="31546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30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Проактивен</a:t>
            </a:r>
            <a:endParaRPr lang="en-US" sz="2300" dirty="0"/>
          </a:p>
        </p:txBody>
      </p:sp>
      <p:sp>
        <p:nvSpPr>
          <p:cNvPr id="13" name="Text 9"/>
          <p:cNvSpPr/>
          <p:nvPr/>
        </p:nvSpPr>
        <p:spPr>
          <a:xfrm>
            <a:off x="3520440" y="3675888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E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пишет первым, ведёт по треку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035040" y="1874520"/>
            <a:ext cx="2468880" cy="2651760"/>
          </a:xfrm>
          <a:prstGeom prst="roundRect">
            <a:avLst>
              <a:gd name="adj" fmla="val 3704"/>
            </a:avLst>
          </a:prstGeom>
          <a:solidFill>
            <a:srgbClr val="F1F6F5"/>
          </a:solidFill>
          <a:ln/>
          <a:effectLst>
            <a:outerShdw sx="100000" sy="100000" kx="0" ky="0" algn="bl" rotWithShape="0" blurRad="114300" dist="38100" dir="8100000">
              <a:srgbClr val="0C2E33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327648" y="2194560"/>
            <a:ext cx="841248" cy="841248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6372" y="2413284"/>
            <a:ext cx="403799" cy="40379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63640" y="31546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30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Multi-tenant</a:t>
            </a:r>
            <a:endParaRPr lang="en-US" sz="2300" dirty="0"/>
          </a:p>
        </p:txBody>
      </p:sp>
      <p:sp>
        <p:nvSpPr>
          <p:cNvPr id="18" name="Text 13"/>
          <p:cNvSpPr/>
          <p:nvPr/>
        </p:nvSpPr>
        <p:spPr>
          <a:xfrm>
            <a:off x="6263640" y="3675888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E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роутинг на двух пользователей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030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Что строим теперь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383280" cy="3108960"/>
          </a:xfrm>
          <a:prstGeom prst="roundRect">
            <a:avLst>
              <a:gd name="adj" fmla="val 2941"/>
            </a:avLst>
          </a:prstGeom>
          <a:solidFill>
            <a:srgbClr val="F1F6F5"/>
          </a:solidFill>
          <a:ln/>
          <a:effectLst>
            <a:outerShdw sx="100000" sy="100000" kx="0" ky="0" algn="bl" rotWithShape="0" blurRad="114300" dist="38100" dir="8100000">
              <a:srgbClr val="0C2E33">
                <a:alpha val="1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737360"/>
            <a:ext cx="777240" cy="777240"/>
          </a:xfrm>
          <a:prstGeom prst="ellipse">
            <a:avLst/>
          </a:prstGeom>
          <a:solidFill>
            <a:srgbClr val="5E7A7D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0762" y="1939442"/>
            <a:ext cx="373075" cy="3730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83080" y="184708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30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Сейчас: бот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914400" y="2743200"/>
            <a:ext cx="2834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Telegram-чат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пользователя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навык — диалог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память в файлах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4206240" y="2743200"/>
            <a:ext cx="731520" cy="731520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6435" y="2933395"/>
            <a:ext cx="351130" cy="35113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212080" y="1417320"/>
            <a:ext cx="3383280" cy="3108960"/>
          </a:xfrm>
          <a:prstGeom prst="roundRect">
            <a:avLst>
              <a:gd name="adj" fmla="val 2941"/>
            </a:avLst>
          </a:prstGeom>
          <a:solidFill>
            <a:srgbClr val="0C2E33"/>
          </a:solidFill>
          <a:ln/>
          <a:effectLst>
            <a:outerShdw sx="100000" sy="100000" kx="0" ky="0" algn="bl" rotWithShape="0" blurRad="114300" dist="38100" dir="8100000">
              <a:srgbClr val="0C2E33">
                <a:alpha val="1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532120" y="1737360"/>
            <a:ext cx="777240" cy="77724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4202" y="1939442"/>
            <a:ext cx="373075" cy="37307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46520" y="184708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Платформа</a:t>
            </a:r>
            <a:endParaRPr lang="en-US" sz="1900" dirty="0"/>
          </a:p>
        </p:txBody>
      </p:sp>
      <p:sp>
        <p:nvSpPr>
          <p:cNvPr id="14" name="Text 9"/>
          <p:cNvSpPr/>
          <p:nvPr/>
        </p:nvSpPr>
        <p:spPr>
          <a:xfrm>
            <a:off x="5577840" y="2743200"/>
            <a:ext cx="2834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веб-приложение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пользователя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много модулей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общее ядро и БД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Это шаг вверх по сложности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66928" y="114300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single-user агента — к модульной системе для нескольких людей с общим ядром.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468880" cy="2606040"/>
          </a:xfrm>
          <a:prstGeom prst="roundRect">
            <a:avLst>
              <a:gd name="adj" fmla="val 3704"/>
            </a:avLst>
          </a:prstGeom>
          <a:solidFill>
            <a:srgbClr val="103E45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240280"/>
            <a:ext cx="777240" cy="77724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042" y="2442362"/>
            <a:ext cx="373075" cy="3730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31089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Единое ядро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04672" y="3584448"/>
            <a:ext cx="20848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пользователи, слова, прогресс, события обучения — в одной системе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291840" y="1965960"/>
            <a:ext cx="2468880" cy="2606040"/>
          </a:xfrm>
          <a:prstGeom prst="roundRect">
            <a:avLst>
              <a:gd name="adj" fmla="val 3704"/>
            </a:avLst>
          </a:prstGeom>
          <a:solidFill>
            <a:srgbClr val="103E45"/>
          </a:solidFill>
          <a:ln/>
        </p:spPr>
      </p:sp>
      <p:sp>
        <p:nvSpPr>
          <p:cNvPr id="10" name="Shape 7"/>
          <p:cNvSpPr/>
          <p:nvPr/>
        </p:nvSpPr>
        <p:spPr>
          <a:xfrm>
            <a:off x="3566160" y="2240280"/>
            <a:ext cx="777240" cy="77724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8242" y="2442362"/>
            <a:ext cx="373075" cy="37307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47872" y="31089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Модули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3547872" y="3584448"/>
            <a:ext cx="20848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карточки, говорение, чтение — каждый встаёт на ядро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035040" y="1965960"/>
            <a:ext cx="2468880" cy="2606040"/>
          </a:xfrm>
          <a:prstGeom prst="roundRect">
            <a:avLst>
              <a:gd name="adj" fmla="val 3704"/>
            </a:avLst>
          </a:prstGeom>
          <a:solidFill>
            <a:srgbClr val="103E45"/>
          </a:solidFill>
          <a:ln/>
        </p:spPr>
      </p:sp>
      <p:sp>
        <p:nvSpPr>
          <p:cNvPr id="15" name="Shape 11"/>
          <p:cNvSpPr/>
          <p:nvPr/>
        </p:nvSpPr>
        <p:spPr>
          <a:xfrm>
            <a:off x="6309360" y="2240280"/>
            <a:ext cx="777240" cy="77724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1442" y="2442362"/>
            <a:ext cx="373075" cy="37307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91072" y="31089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Реальная БД и веб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6291072" y="3584448"/>
            <a:ext cx="20848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реляционные данные и серверный рендеринг вместо файлов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30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Четыре реальных пользователя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07899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Вся семья пользуется каждый день. Это настоящий продукт с живыми пользователями, не учебная игрушка.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828800" cy="2377440"/>
          </a:xfrm>
          <a:prstGeom prst="roundRect">
            <a:avLst>
              <a:gd name="adj" fmla="val 5000"/>
            </a:avLst>
          </a:prstGeom>
          <a:solidFill>
            <a:srgbClr val="F1F6F5"/>
          </a:solidFill>
          <a:ln/>
          <a:effectLst>
            <a:outerShdw sx="100000" sy="100000" kx="0" ky="0" algn="bl" rotWithShape="0" blurRad="114300" dist="38100" dir="8100000">
              <a:srgbClr val="0C2E33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2240280"/>
            <a:ext cx="731520" cy="73152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7475" y="2430475"/>
            <a:ext cx="351130" cy="3511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31546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030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Мама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594360" y="36118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E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уровень B1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606040" y="1920240"/>
            <a:ext cx="1828800" cy="2377440"/>
          </a:xfrm>
          <a:prstGeom prst="roundRect">
            <a:avLst>
              <a:gd name="adj" fmla="val 5000"/>
            </a:avLst>
          </a:prstGeom>
          <a:solidFill>
            <a:srgbClr val="F1F6F5"/>
          </a:solidFill>
          <a:ln/>
          <a:effectLst>
            <a:outerShdw sx="100000" sy="100000" kx="0" ky="0" algn="bl" rotWithShape="0" blurRad="114300" dist="38100" dir="8100000">
              <a:srgbClr val="0C2E33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154680" y="2240280"/>
            <a:ext cx="731520" cy="73152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4875" y="2430475"/>
            <a:ext cx="351130" cy="35113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651760" y="31546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030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Папа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2651760" y="36118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E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оживляет язык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4663440" y="1920240"/>
            <a:ext cx="1828800" cy="2377440"/>
          </a:xfrm>
          <a:prstGeom prst="roundRect">
            <a:avLst>
              <a:gd name="adj" fmla="val 5000"/>
            </a:avLst>
          </a:prstGeom>
          <a:solidFill>
            <a:srgbClr val="F1F6F5"/>
          </a:solidFill>
          <a:ln/>
          <a:effectLst>
            <a:outerShdw sx="100000" sy="100000" kx="0" ky="0" algn="bl" rotWithShape="0" blurRad="114300" dist="38100" dir="8100000">
              <a:srgbClr val="0C2E33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212080" y="2240280"/>
            <a:ext cx="731520" cy="73152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2275" y="2430475"/>
            <a:ext cx="351130" cy="35113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709160" y="31546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030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Матвей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4709160" y="36118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E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C2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720840" y="1920240"/>
            <a:ext cx="1828800" cy="2377440"/>
          </a:xfrm>
          <a:prstGeom prst="roundRect">
            <a:avLst>
              <a:gd name="adj" fmla="val 5000"/>
            </a:avLst>
          </a:prstGeom>
          <a:solidFill>
            <a:srgbClr val="F1F6F5"/>
          </a:solidFill>
          <a:ln/>
          <a:effectLst>
            <a:outerShdw sx="100000" sy="100000" kx="0" ky="0" algn="bl" rotWithShape="0" blurRad="114300" dist="38100" dir="8100000">
              <a:srgbClr val="0C2E33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269480" y="2240280"/>
            <a:ext cx="731520" cy="73152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9675" y="2430475"/>
            <a:ext cx="351130" cy="35113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766560" y="31546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030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Никита</a:t>
            </a:r>
            <a:endParaRPr lang="en-US" sz="1900" dirty="0"/>
          </a:p>
        </p:txBody>
      </p:sp>
      <p:sp>
        <p:nvSpPr>
          <p:cNvPr id="23" name="Text 17"/>
          <p:cNvSpPr/>
          <p:nvPr/>
        </p:nvSpPr>
        <p:spPr>
          <a:xfrm>
            <a:off x="6766560" y="36118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E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начинающий, 11 лет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030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Одно ядро. Много модулей.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977640" y="2331720"/>
            <a:ext cx="1691640" cy="1691640"/>
          </a:xfrm>
          <a:prstGeom prst="ellipse">
            <a:avLst/>
          </a:prstGeom>
          <a:solidFill>
            <a:srgbClr val="0C2E33"/>
          </a:solidFill>
          <a:ln/>
          <a:effectLst>
            <a:outerShdw sx="100000" sy="100000" kx="0" ky="0" algn="bl" rotWithShape="0" blurRad="114300" dist="38100" dir="8100000">
              <a:srgbClr val="0C2E33">
                <a:alpha val="16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977640" y="274320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ЯДРО</a:t>
            </a:r>
            <a:endParaRPr lang="en-US" sz="17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данные · пользователи · прогресс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743200" y="1801368"/>
            <a:ext cx="1371600" cy="987552"/>
          </a:xfrm>
          <a:prstGeom prst="line">
            <a:avLst/>
          </a:prstGeom>
          <a:noFill/>
          <a:ln w="25400">
            <a:solidFill>
              <a:srgbClr val="D9E6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2743200" y="2788920"/>
            <a:ext cx="1371600" cy="841248"/>
          </a:xfrm>
          <a:prstGeom prst="line">
            <a:avLst/>
          </a:prstGeom>
          <a:noFill/>
          <a:ln w="25400">
            <a:solidFill>
              <a:srgbClr val="D9E6E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5532120" y="1801368"/>
            <a:ext cx="868680" cy="987552"/>
          </a:xfrm>
          <a:prstGeom prst="line">
            <a:avLst/>
          </a:prstGeom>
          <a:noFill/>
          <a:ln w="25400">
            <a:solidFill>
              <a:srgbClr val="D9E6E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532120" y="2788920"/>
            <a:ext cx="868680" cy="841248"/>
          </a:xfrm>
          <a:prstGeom prst="line">
            <a:avLst/>
          </a:prstGeom>
          <a:noFill/>
          <a:ln w="25400">
            <a:solidFill>
              <a:srgbClr val="D9E6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43000" y="1417320"/>
            <a:ext cx="1600200" cy="777240"/>
          </a:xfrm>
          <a:prstGeom prst="roundRect">
            <a:avLst>
              <a:gd name="adj" fmla="val 9412"/>
            </a:avLst>
          </a:prstGeom>
          <a:solidFill>
            <a:srgbClr val="F1F6F5"/>
          </a:solidFill>
          <a:ln/>
          <a:effectLst>
            <a:outerShdw sx="100000" sy="100000" kx="0" ky="0" algn="bl" rotWithShape="0" blurRad="114300" dist="38100" dir="8100000">
              <a:srgbClr val="0C2E33">
                <a:alpha val="16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1636776"/>
            <a:ext cx="347472" cy="34747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746504" y="1417320"/>
            <a:ext cx="960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Карточки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400800" y="1417320"/>
            <a:ext cx="1600200" cy="777240"/>
          </a:xfrm>
          <a:prstGeom prst="roundRect">
            <a:avLst>
              <a:gd name="adj" fmla="val 9412"/>
            </a:avLst>
          </a:prstGeom>
          <a:solidFill>
            <a:srgbClr val="F1F6F5"/>
          </a:solidFill>
          <a:ln/>
          <a:effectLst>
            <a:outerShdw sx="100000" sy="100000" kx="0" ky="0" algn="bl" rotWithShape="0" blurRad="114300" dist="38100" dir="8100000">
              <a:srgbClr val="0C2E33">
                <a:alpha val="16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636776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004304" y="1417320"/>
            <a:ext cx="960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Говорение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1143000" y="3246120"/>
            <a:ext cx="1600200" cy="777240"/>
          </a:xfrm>
          <a:prstGeom prst="roundRect">
            <a:avLst>
              <a:gd name="adj" fmla="val 9412"/>
            </a:avLst>
          </a:prstGeom>
          <a:solidFill>
            <a:srgbClr val="F1F6F5"/>
          </a:solidFill>
          <a:ln/>
          <a:effectLst>
            <a:outerShdw sx="100000" sy="100000" kx="0" ky="0" algn="bl" rotWithShape="0" blurRad="114300" dist="38100" dir="8100000">
              <a:srgbClr val="0C2E33">
                <a:alpha val="16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3465576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46504" y="3246120"/>
            <a:ext cx="960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Чтение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6400800" y="3246120"/>
            <a:ext cx="1600200" cy="777240"/>
          </a:xfrm>
          <a:prstGeom prst="roundRect">
            <a:avLst>
              <a:gd name="adj" fmla="val 9412"/>
            </a:avLst>
          </a:prstGeom>
          <a:solidFill>
            <a:srgbClr val="F1F6F5"/>
          </a:solidFill>
          <a:ln/>
          <a:effectLst>
            <a:outerShdw sx="100000" sy="100000" kx="0" ky="0" algn="bl" rotWithShape="0" blurRad="114300" dist="38100" dir="8100000">
              <a:srgbClr val="0C2E33">
                <a:alpha val="16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3465576"/>
            <a:ext cx="347472" cy="34747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004304" y="3246120"/>
            <a:ext cx="960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Письмо</a:t>
            </a:r>
            <a:endParaRPr lang="en-US" sz="1250" dirty="0"/>
          </a:p>
        </p:txBody>
      </p:sp>
      <p:sp>
        <p:nvSpPr>
          <p:cNvPr id="21" name="Text 15"/>
          <p:cNvSpPr/>
          <p:nvPr/>
        </p:nvSpPr>
        <p:spPr>
          <a:xfrm>
            <a:off x="548640" y="43434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Грамматика</a:t>
            </a:r>
            <a:pPr algn="ctr" indent="0" marL="0">
              <a:buNone/>
            </a:pPr>
            <a:r>
              <a:rPr lang="en-US" sz="1400" dirty="0">
                <a:solidFill>
                  <a:srgbClr val="5E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сквозной слой: события тегируются темами, дашборд растёт сам.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030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 чего начинаем:  </a:t>
            </a:r>
            <a:pPr indent="0" marL="0">
              <a:buNone/>
            </a:pPr>
            <a:r>
              <a:rPr lang="en-US" sz="36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Модуль 0+1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66928" y="10972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Ядро + карточки повторения. Первая осязаемая фича, на которой встаёт весь фундамент.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8046720" cy="841248"/>
          </a:xfrm>
          <a:prstGeom prst="roundRect">
            <a:avLst>
              <a:gd name="adj" fmla="val 8696"/>
            </a:avLst>
          </a:prstGeom>
          <a:solidFill>
            <a:srgbClr val="F1F6F5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75104"/>
            <a:ext cx="548640" cy="54864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2117750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901952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30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Модели данных и БД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617720" y="1901952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хранить пользователей, слова, повторения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2788920"/>
            <a:ext cx="8046720" cy="841248"/>
          </a:xfrm>
          <a:prstGeom prst="roundRect">
            <a:avLst>
              <a:gd name="adj" fmla="val 8696"/>
            </a:avLst>
          </a:prstGeom>
          <a:solidFill>
            <a:srgbClr val="F1F6F5"/>
          </a:solidFill>
          <a:ln/>
        </p:spPr>
      </p:sp>
      <p:sp>
        <p:nvSpPr>
          <p:cNvPr id="10" name="Shape 7"/>
          <p:cNvSpPr/>
          <p:nvPr/>
        </p:nvSpPr>
        <p:spPr>
          <a:xfrm>
            <a:off x="777240" y="2935224"/>
            <a:ext cx="548640" cy="54864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886" y="3077870"/>
            <a:ext cx="263347" cy="2633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08760" y="2862072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30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Алгоритм FSRS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617720" y="2862072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научное интервальное повторение — готовый пакет, не с нуля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48640" y="3749040"/>
            <a:ext cx="8046720" cy="841248"/>
          </a:xfrm>
          <a:prstGeom prst="roundRect">
            <a:avLst>
              <a:gd name="adj" fmla="val 8696"/>
            </a:avLst>
          </a:prstGeom>
          <a:solidFill>
            <a:srgbClr val="F1F6F5"/>
          </a:solidFill>
          <a:ln/>
        </p:spPr>
      </p:sp>
      <p:sp>
        <p:nvSpPr>
          <p:cNvPr id="15" name="Shape 11"/>
          <p:cNvSpPr/>
          <p:nvPr/>
        </p:nvSpPr>
        <p:spPr>
          <a:xfrm>
            <a:off x="777240" y="3895344"/>
            <a:ext cx="548640" cy="54864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886" y="4037990"/>
            <a:ext cx="263347" cy="26334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3822192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30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Ввод слов из EnglishDom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4617720" y="3822192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удобно заносить слова из твоих уроков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030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Стек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66928" y="10972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Знакомый фундамент плюс новые куски — рост, а не прыжок в неизвестность.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886200" cy="2743200"/>
          </a:xfrm>
          <a:prstGeom prst="roundRect">
            <a:avLst>
              <a:gd name="adj" fmla="val 3333"/>
            </a:avLst>
          </a:prstGeom>
          <a:solidFill>
            <a:srgbClr val="F1F6F5"/>
          </a:solidFill>
          <a:ln/>
          <a:effectLst>
            <a:outerShdw sx="100000" sy="100000" kx="0" ky="0" algn="bl" rotWithShape="0" blurRad="114300" dist="38100" dir="8100000">
              <a:srgbClr val="0C2E33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57400"/>
            <a:ext cx="603504" cy="603504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9871" y="2214311"/>
            <a:ext cx="289682" cy="28968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07568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30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Уже знаешь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914400" y="292608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 + prompt caching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0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· Git · деплой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4709160" y="1783080"/>
            <a:ext cx="3886200" cy="2743200"/>
          </a:xfrm>
          <a:prstGeom prst="roundRect">
            <a:avLst>
              <a:gd name="adj" fmla="val 3333"/>
            </a:avLst>
          </a:prstGeom>
          <a:solidFill>
            <a:srgbClr val="0C2E33"/>
          </a:solidFill>
          <a:ln/>
          <a:effectLst>
            <a:outerShdw sx="100000" sy="100000" kx="0" ky="0" algn="bl" rotWithShape="0" blurRad="114300" dist="38100" dir="8100000">
              <a:srgbClr val="0C2E33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83480" y="2057400"/>
            <a:ext cx="603504" cy="603504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0391" y="2214311"/>
            <a:ext cx="289682" cy="28968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715000" y="207568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Освоишь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5074920" y="292608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Серверный рендеринг (Jinja2)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→ PostgreSQL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Готовый пакет fsrs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Авторизация и сессии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030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Что прокачаешь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3886200" cy="1280160"/>
          </a:xfrm>
          <a:prstGeom prst="roundRect">
            <a:avLst>
              <a:gd name="adj" fmla="val 7143"/>
            </a:avLst>
          </a:prstGeom>
          <a:solidFill>
            <a:srgbClr val="F1F6F5"/>
          </a:solidFill>
          <a:ln/>
          <a:effectLst>
            <a:outerShdw sx="100000" sy="100000" kx="0" ky="0" algn="bl" rotWithShape="0" blurRad="114300" dist="38100" dir="8100000">
              <a:srgbClr val="0C2E33">
                <a:alpha val="1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04672" y="1892808"/>
            <a:ext cx="713232" cy="713232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112" y="2078248"/>
            <a:ext cx="342351" cy="34235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91640" y="180136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30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Реляционные БД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691640" y="225856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модели, связи, запросы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709160" y="1600200"/>
            <a:ext cx="3886200" cy="1280160"/>
          </a:xfrm>
          <a:prstGeom prst="roundRect">
            <a:avLst>
              <a:gd name="adj" fmla="val 7143"/>
            </a:avLst>
          </a:prstGeom>
          <a:solidFill>
            <a:srgbClr val="F1F6F5"/>
          </a:solidFill>
          <a:ln/>
          <a:effectLst>
            <a:outerShdw sx="100000" sy="100000" kx="0" ky="0" algn="bl" rotWithShape="0" blurRad="114300" dist="38100" dir="8100000">
              <a:srgbClr val="0C2E33">
                <a:alpha val="1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965192" y="1892808"/>
            <a:ext cx="713232" cy="713232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0632" y="2078248"/>
            <a:ext cx="342351" cy="34235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852160" y="180136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30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Серверный веб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5852160" y="225856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роуты, шаблоны, формы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48640" y="3063240"/>
            <a:ext cx="3886200" cy="1280160"/>
          </a:xfrm>
          <a:prstGeom prst="roundRect">
            <a:avLst>
              <a:gd name="adj" fmla="val 7143"/>
            </a:avLst>
          </a:prstGeom>
          <a:solidFill>
            <a:srgbClr val="F1F6F5"/>
          </a:solidFill>
          <a:ln/>
          <a:effectLst>
            <a:outerShdw sx="100000" sy="100000" kx="0" ky="0" algn="bl" rotWithShape="0" blurRad="114300" dist="38100" dir="8100000">
              <a:srgbClr val="0C2E33">
                <a:alpha val="16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04672" y="3355848"/>
            <a:ext cx="713232" cy="713232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112" y="3541288"/>
            <a:ext cx="342351" cy="34235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91640" y="326440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30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Авторизация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1691640" y="372160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пароли, сессии, доступ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4709160" y="3063240"/>
            <a:ext cx="3886200" cy="1280160"/>
          </a:xfrm>
          <a:prstGeom prst="roundRect">
            <a:avLst>
              <a:gd name="adj" fmla="val 7143"/>
            </a:avLst>
          </a:prstGeom>
          <a:solidFill>
            <a:srgbClr val="F1F6F5"/>
          </a:solidFill>
          <a:ln/>
          <a:effectLst>
            <a:outerShdw sx="100000" sy="100000" kx="0" ky="0" algn="bl" rotWithShape="0" blurRad="114300" dist="38100" dir="8100000">
              <a:srgbClr val="0C2E33">
                <a:alpha val="16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4965192" y="3355848"/>
            <a:ext cx="713232" cy="713232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0632" y="3541288"/>
            <a:ext cx="342351" cy="342351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852160" y="326440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30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 данных</a:t>
            </a:r>
            <a:endParaRPr lang="en-US" sz="1800" dirty="0"/>
          </a:p>
        </p:txBody>
      </p:sp>
      <p:sp>
        <p:nvSpPr>
          <p:cNvPr id="22" name="Text 16"/>
          <p:cNvSpPr/>
          <p:nvPr/>
        </p:nvSpPr>
        <p:spPr>
          <a:xfrm>
            <a:off x="5852160" y="372160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защита данных семьи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030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Зачем это тебе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2468880" cy="2834640"/>
          </a:xfrm>
          <a:prstGeom prst="roundRect">
            <a:avLst>
              <a:gd name="adj" fmla="val 3704"/>
            </a:avLst>
          </a:prstGeom>
          <a:solidFill>
            <a:srgbClr val="F1F6F5"/>
          </a:solidFill>
          <a:ln/>
          <a:effectLst>
            <a:outerShdw sx="100000" sy="100000" kx="0" ky="0" algn="bl" rotWithShape="0" blurRad="114300" dist="38100" dir="8100000">
              <a:srgbClr val="0C2E33">
                <a:alpha val="1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41248" y="2011680"/>
            <a:ext cx="841248" cy="841248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9972" y="2230404"/>
            <a:ext cx="403799" cy="40379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04672" y="30175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30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Портфолио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04672" y="3493008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веб-приложение с авторизацией звучит сильнее, чем бот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291840" y="1691640"/>
            <a:ext cx="2468880" cy="2834640"/>
          </a:xfrm>
          <a:prstGeom prst="roundRect">
            <a:avLst>
              <a:gd name="adj" fmla="val 3704"/>
            </a:avLst>
          </a:prstGeom>
          <a:solidFill>
            <a:srgbClr val="F1F6F5"/>
          </a:solidFill>
          <a:ln/>
          <a:effectLst>
            <a:outerShdw sx="100000" sy="100000" kx="0" ky="0" algn="bl" rotWithShape="0" blurRad="114300" dist="38100" dir="8100000">
              <a:srgbClr val="0C2E33">
                <a:alpha val="1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584448" y="2011680"/>
            <a:ext cx="841248" cy="841248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3172" y="2230404"/>
            <a:ext cx="403799" cy="40379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547872" y="30175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30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Горизонт AppSec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3547872" y="3493008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и данные пользователей — это твоя будущая специализация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035040" y="1691640"/>
            <a:ext cx="2468880" cy="2834640"/>
          </a:xfrm>
          <a:prstGeom prst="roundRect">
            <a:avLst>
              <a:gd name="adj" fmla="val 3704"/>
            </a:avLst>
          </a:prstGeom>
          <a:solidFill>
            <a:srgbClr val="F1F6F5"/>
          </a:solidFill>
          <a:ln/>
          <a:effectLst>
            <a:outerShdw sx="100000" sy="100000" kx="0" ky="0" algn="bl" rotWithShape="0" blurRad="114300" dist="38100" dir="8100000">
              <a:srgbClr val="0C2E33">
                <a:alpha val="16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327648" y="2011680"/>
            <a:ext cx="841248" cy="841248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6372" y="2230404"/>
            <a:ext cx="403799" cy="40379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291072" y="30175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30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Реальные пользователи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6291072" y="3493008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твоя семья пользуется этим каждый день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76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2743200"/>
            <a:ext cx="3108960" cy="3108960"/>
          </a:xfrm>
          <a:prstGeom prst="ellipse">
            <a:avLst/>
          </a:prstGeom>
          <a:solidFill>
            <a:srgbClr val="0D9488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-1188720"/>
            <a:ext cx="2743200" cy="2743200"/>
          </a:xfrm>
          <a:prstGeom prst="ellipse">
            <a:avLst/>
          </a:prstGeom>
          <a:solidFill>
            <a:srgbClr val="2DD4BF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777240"/>
            <a:ext cx="914400" cy="914400"/>
          </a:xfrm>
          <a:prstGeom prst="ellipse">
            <a:avLst/>
          </a:prstGeom>
          <a:solidFill>
            <a:srgbClr val="0C2E33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014984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82880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Это твой проект. В твоём темпе.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658368" y="29718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C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Главное — как ты растёшь как разработчик, не дедлайн. Архитектура догоняет потребность, а не гонит впереди.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C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3017520"/>
            <a:ext cx="2926080" cy="2926080"/>
          </a:xfrm>
          <a:prstGeom prst="ellipse">
            <a:avLst/>
          </a:prstGeom>
          <a:solidFill>
            <a:srgbClr val="103E45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777240"/>
            <a:ext cx="914400" cy="91440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014984"/>
            <a:ext cx="438912" cy="4389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9202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Начинаем с ядра.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658368" y="306324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Первый шаг — спроектировать данные и поднять карточки. Дальше платформа растёт модуль за модулем.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Family English — kickoff</dc:title>
  <dc:subject>PptxGenJS Presentation</dc:subject>
  <dc:creator>GRAND WAY MATVII</dc:creator>
  <cp:lastModifiedBy>GRAND WAY MATVII</cp:lastModifiedBy>
  <cp:revision>1</cp:revision>
  <dcterms:created xsi:type="dcterms:W3CDTF">2026-06-04T08:17:32Z</dcterms:created>
  <dcterms:modified xsi:type="dcterms:W3CDTF">2026-06-04T08:17:32Z</dcterms:modified>
</cp:coreProperties>
</file>